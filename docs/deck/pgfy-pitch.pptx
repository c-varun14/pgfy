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GFY">
    <p:bg>
      <p:bgPr>
        <a:solidFill>
          <a:srgbClr val="11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1792" y="265176"/>
            <a:ext cx="256032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77824" y="292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E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pgfy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220724" y="292608"/>
            <a:ext cx="109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C7A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92256" y="6547104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37C74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92256" y="6547104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37C74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1600200"/>
            <a:ext cx="105156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ECE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 databases</a:t>
            </a:r>
            <a:endParaRPr lang="en-US" sz="5600" dirty="0"/>
          </a:p>
          <a:p>
            <a:pPr algn="l" indent="0" marL="0">
              <a:buNone/>
            </a:pPr>
            <a:r>
              <a:rPr lang="en-US" sz="5600" b="1" dirty="0">
                <a:solidFill>
                  <a:srgbClr val="ECE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 / month</a:t>
            </a:r>
            <a:endParaRPr lang="en-US" sz="5600" dirty="0"/>
          </a:p>
          <a:p>
            <a:pPr algn="l" indent="0" marL="0">
              <a:buNone/>
            </a:pPr>
            <a:r>
              <a:rPr lang="en-US" sz="5600" b="1" dirty="0">
                <a:solidFill>
                  <a:srgbClr val="ECE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restores you can verify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749808" y="43159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A2AA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AWS · Lightsail + S3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92256" y="6547104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37C74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658368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CE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 built it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749808" y="1353312"/>
            <a:ext cx="3154680" cy="3931920"/>
          </a:xfrm>
          <a:prstGeom prst="roundRect">
            <a:avLst>
              <a:gd name="adj" fmla="val 2319"/>
            </a:avLst>
          </a:prstGeom>
          <a:solidFill>
            <a:srgbClr val="191E1B"/>
          </a:solidFill>
          <a:ln w="12700">
            <a:solidFill>
              <a:srgbClr val="2A2F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9264" y="15361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10" kern="0" dirty="0">
                <a:solidFill>
                  <a:srgbClr val="A2AA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THE BILL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969264" y="181051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CE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“Hosting is on you.”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69264" y="2267712"/>
            <a:ext cx="272491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ECE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client wouldn’t pay for infrastructure. One managed Postgres was </a:t>
            </a:r>
            <a:pPr algn="l" indent="0" marL="0">
              <a:buNone/>
            </a:pPr>
            <a:r>
              <a:rPr lang="en-US" sz="1350" b="1" dirty="0">
                <a:solidFill>
                  <a:srgbClr val="ECE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$20 a month — $240 a year</a:t>
            </a:r>
            <a:pPr algn="l" indent="0" marL="0">
              <a:buNone/>
            </a:pPr>
            <a:r>
              <a:rPr lang="en-US" sz="1350" dirty="0">
                <a:solidFill>
                  <a:srgbClr val="ECE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on top of AI and VPS bills, for an app with a tiny audience. Multiply by every small project an agency runs.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078224" y="1353312"/>
            <a:ext cx="4160520" cy="3931920"/>
          </a:xfrm>
          <a:prstGeom prst="roundRect">
            <a:avLst>
              <a:gd name="adj" fmla="val 1860"/>
            </a:avLst>
          </a:prstGeom>
          <a:solidFill>
            <a:srgbClr val="191E1B"/>
          </a:solidFill>
          <a:ln w="12700">
            <a:solidFill>
              <a:srgbClr val="2A2F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0" y="15361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10" kern="0" dirty="0">
                <a:solidFill>
                  <a:srgbClr val="A2AA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WHAT I TRIED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297680" y="187452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FC7A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Dokploy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175504" y="18745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ECE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One-click self-hosting, but its databases weren’t managed the way I needed.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97680" y="2880360"/>
            <a:ext cx="3721608" cy="0"/>
          </a:xfrm>
          <a:prstGeom prst="line">
            <a:avLst/>
          </a:prstGeom>
          <a:noFill/>
          <a:ln w="12700">
            <a:solidFill>
              <a:srgbClr val="2A2F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29718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FC7A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RDS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75504" y="29718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ECE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Documents many databases per instance — then leaves every role, password and backup to you.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297680" y="3977640"/>
            <a:ext cx="3721608" cy="0"/>
          </a:xfrm>
          <a:prstGeom prst="line">
            <a:avLst/>
          </a:prstGeom>
          <a:noFill/>
          <a:ln w="12700">
            <a:solidFill>
              <a:srgbClr val="2A2F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0" y="406908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FC7A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75504" y="40690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ECE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Workers every 10 s keep it awake — $19.34 per project, always on.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CE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0.25 CU × 730 h × $0.106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412480" y="1353312"/>
            <a:ext cx="3154680" cy="3931920"/>
          </a:xfrm>
          <a:prstGeom prst="roundRect">
            <a:avLst>
              <a:gd name="adj" fmla="val 2319"/>
            </a:avLst>
          </a:prstGeom>
          <a:solidFill>
            <a:srgbClr val="202E25"/>
          </a:solidFill>
          <a:ln w="12700">
            <a:solidFill>
              <a:srgbClr val="2F4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31936" y="15361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10" kern="0" dirty="0">
                <a:solidFill>
                  <a:srgbClr val="8FC7A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WHAT I WANTED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631936" y="1810512"/>
            <a:ext cx="27249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CE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server I own. A database per project in one click. Backups that prove they restore.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749808" y="6254496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2AA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the AI era we all ship niche apps for small audiences: many small databases, none of them big. That is what Pgfy is for.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92256" y="6547104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37C74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658368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CE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on AWS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749808" y="1325880"/>
            <a:ext cx="4663440" cy="3429000"/>
          </a:xfrm>
          <a:prstGeom prst="roundRect">
            <a:avLst>
              <a:gd name="adj" fmla="val 2133"/>
            </a:avLst>
          </a:prstGeom>
          <a:solidFill>
            <a:srgbClr val="191E1B"/>
          </a:solidFill>
          <a:ln w="12700">
            <a:solidFill>
              <a:srgbClr val="2A2F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32688" y="148132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CE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Lightsail · Ubuntu 24.04 · $12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60120" y="1901952"/>
            <a:ext cx="4251960" cy="502920"/>
          </a:xfrm>
          <a:prstGeom prst="roundRect">
            <a:avLst>
              <a:gd name="adj" fmla="val 14545"/>
            </a:avLst>
          </a:prstGeom>
          <a:solidFill>
            <a:srgbClr val="202622"/>
          </a:solidFill>
          <a:ln w="12700">
            <a:solidFill>
              <a:srgbClr val="3A40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975104"/>
            <a:ext cx="39410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dirty="0">
                <a:solidFill>
                  <a:srgbClr val="ECE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Caddy (HTTPS, Let’s Encrypt)</a:t>
            </a:r>
            <a:endParaRPr lang="en-US" sz="1230" dirty="0"/>
          </a:p>
        </p:txBody>
      </p:sp>
      <p:sp>
        <p:nvSpPr>
          <p:cNvPr id="7" name="Text 5"/>
          <p:cNvSpPr/>
          <p:nvPr/>
        </p:nvSpPr>
        <p:spPr>
          <a:xfrm>
            <a:off x="2907792" y="240487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37C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60120" y="2606040"/>
            <a:ext cx="4251960" cy="658368"/>
          </a:xfrm>
          <a:prstGeom prst="roundRect">
            <a:avLst>
              <a:gd name="adj" fmla="val 11111"/>
            </a:avLst>
          </a:prstGeom>
          <a:solidFill>
            <a:srgbClr val="202622"/>
          </a:solidFill>
          <a:ln w="12700">
            <a:solidFill>
              <a:srgbClr val="3A40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679192"/>
            <a:ext cx="3941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dirty="0">
                <a:solidFill>
                  <a:srgbClr val="ECE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pgfy — Go binary + embedded React dashboard · SQLite state</a:t>
            </a:r>
            <a:endParaRPr lang="en-US" sz="1230" dirty="0"/>
          </a:p>
        </p:txBody>
      </p:sp>
      <p:sp>
        <p:nvSpPr>
          <p:cNvPr id="10" name="Text 8"/>
          <p:cNvSpPr/>
          <p:nvPr/>
        </p:nvSpPr>
        <p:spPr>
          <a:xfrm>
            <a:off x="2907792" y="326440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37C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60120" y="3465576"/>
            <a:ext cx="4251960" cy="841248"/>
          </a:xfrm>
          <a:prstGeom prst="roundRect">
            <a:avLst>
              <a:gd name="adj" fmla="val 8696"/>
            </a:avLst>
          </a:prstGeom>
          <a:solidFill>
            <a:srgbClr val="202622"/>
          </a:solidFill>
          <a:ln w="12700">
            <a:solidFill>
              <a:srgbClr val="3A40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5568" y="3538728"/>
            <a:ext cx="39410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dirty="0">
                <a:solidFill>
                  <a:srgbClr val="ECE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 18 · one role + database per project · TLS-only · pg_hba allowlists</a:t>
            </a:r>
            <a:endParaRPr lang="en-US" sz="1230" dirty="0"/>
          </a:p>
        </p:txBody>
      </p:sp>
      <p:sp>
        <p:nvSpPr>
          <p:cNvPr id="13" name="Text 11"/>
          <p:cNvSpPr/>
          <p:nvPr/>
        </p:nvSpPr>
        <p:spPr>
          <a:xfrm>
            <a:off x="5577840" y="21488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A2AA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daily pg_dump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2AA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--format=custom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897880" y="260604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dirty="0">
                <a:solidFill>
                  <a:srgbClr val="8FC7A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3400" dirty="0"/>
          </a:p>
        </p:txBody>
      </p:sp>
      <p:sp>
        <p:nvSpPr>
          <p:cNvPr id="15" name="Shape 13"/>
          <p:cNvSpPr/>
          <p:nvPr/>
        </p:nvSpPr>
        <p:spPr>
          <a:xfrm>
            <a:off x="7086600" y="1901952"/>
            <a:ext cx="2971800" cy="1170432"/>
          </a:xfrm>
          <a:prstGeom prst="roundRect">
            <a:avLst>
              <a:gd name="adj" fmla="val 6250"/>
            </a:avLst>
          </a:prstGeom>
          <a:solidFill>
            <a:srgbClr val="191E1B"/>
          </a:solidFill>
          <a:ln w="12700">
            <a:solidFill>
              <a:srgbClr val="2A2F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0" y="212140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CE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S3 bucket · SSE-S3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315200" y="247802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2AA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archive + manifest + SHA-256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23560" y="374904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191E1B"/>
          </a:solidFill>
          <a:ln w="12700">
            <a:solidFill>
              <a:srgbClr val="2A2F2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06440" y="387705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CE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IAM user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806440" y="415137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2AA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bucket-only policy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680960" y="3922776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900" dirty="0">
                <a:solidFill>
                  <a:srgbClr val="8FC7A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900" dirty="0"/>
          </a:p>
        </p:txBody>
      </p:sp>
      <p:sp>
        <p:nvSpPr>
          <p:cNvPr id="22" name="Shape 20"/>
          <p:cNvSpPr/>
          <p:nvPr/>
        </p:nvSpPr>
        <p:spPr>
          <a:xfrm>
            <a:off x="8549640" y="3986784"/>
            <a:ext cx="2103120" cy="758952"/>
          </a:xfrm>
          <a:prstGeom prst="roundRect">
            <a:avLst>
              <a:gd name="adj" fmla="val 9639"/>
            </a:avLst>
          </a:prstGeom>
          <a:solidFill>
            <a:srgbClr val="151916"/>
          </a:solidFill>
          <a:ln w="12700">
            <a:solidFill>
              <a:srgbClr val="2A2F2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50808" y="409651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2AA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RDS (exit path)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750808" y="434340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37C7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pg_restore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646920" y="3090672"/>
            <a:ext cx="27432" cy="859536"/>
          </a:xfrm>
          <a:prstGeom prst="line">
            <a:avLst/>
          </a:prstGeom>
          <a:noFill/>
          <a:ln w="19050">
            <a:solidFill>
              <a:srgbClr val="737C74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749808" y="6254496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2AA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Docker Compose · pinned image digests · installs with one command in about a minute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92256" y="6547104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37C74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658368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CE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far $12 goes — and how it grows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749808" y="1353312"/>
            <a:ext cx="2450592" cy="1170432"/>
          </a:xfrm>
          <a:prstGeom prst="roundRect">
            <a:avLst>
              <a:gd name="adj" fmla="val 6250"/>
            </a:avLst>
          </a:prstGeom>
          <a:solidFill>
            <a:srgbClr val="191E1B"/>
          </a:solidFill>
          <a:ln w="12700">
            <a:solidFill>
              <a:srgbClr val="2A2F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23544" y="14904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10" kern="0" dirty="0">
                <a:solidFill>
                  <a:srgbClr val="A2AA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DATABASES ON ONE 2 GB BOX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923544" y="184708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CE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401568" y="1353312"/>
            <a:ext cx="2450592" cy="1170432"/>
          </a:xfrm>
          <a:prstGeom prst="roundRect">
            <a:avLst>
              <a:gd name="adj" fmla="val 6250"/>
            </a:avLst>
          </a:prstGeom>
          <a:solidFill>
            <a:srgbClr val="191E1B"/>
          </a:solidFill>
          <a:ln w="12700">
            <a:solidFill>
              <a:srgbClr val="2A2F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75304" y="14904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10" kern="0" dirty="0">
                <a:solidFill>
                  <a:srgbClr val="A2AA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IDLE APP CONNECTIONS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575304" y="184708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CE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 · 490 MiB in use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49808" y="2724912"/>
            <a:ext cx="2450592" cy="1170432"/>
          </a:xfrm>
          <a:prstGeom prst="roundRect">
            <a:avLst>
              <a:gd name="adj" fmla="val 6250"/>
            </a:avLst>
          </a:prstGeom>
          <a:solidFill>
            <a:srgbClr val="191E1B"/>
          </a:solidFill>
          <a:ln w="12700">
            <a:solidFill>
              <a:srgbClr val="2A2F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3544" y="28620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10" kern="0" dirty="0">
                <a:solidFill>
                  <a:srgbClr val="A2AA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DATABASES LOADED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23544" y="321868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CE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943 tx/s · 8,866 reads/s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401568" y="2724912"/>
            <a:ext cx="2450592" cy="1170432"/>
          </a:xfrm>
          <a:prstGeom prst="roundRect">
            <a:avLst>
              <a:gd name="adj" fmla="val 6250"/>
            </a:avLst>
          </a:prstGeom>
          <a:solidFill>
            <a:srgbClr val="191E1B"/>
          </a:solidFill>
          <a:ln w="12700">
            <a:solidFill>
              <a:srgbClr val="2A2F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75304" y="28620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10" kern="0" dirty="0">
                <a:solidFill>
                  <a:srgbClr val="A2AA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50 WRITING AT ONCE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575304" y="321868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CE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962 tx/s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749808" y="4251960"/>
            <a:ext cx="1600200" cy="265176"/>
          </a:xfrm>
          <a:prstGeom prst="roundRect">
            <a:avLst>
              <a:gd name="adj" fmla="val 51724"/>
            </a:avLst>
          </a:prstGeom>
          <a:solidFill>
            <a:srgbClr val="202E25"/>
          </a:solidFill>
          <a:ln w="12700">
            <a:solidFill>
              <a:srgbClr val="202E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4251960"/>
            <a:ext cx="1600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FC7A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backups, verified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468880" y="4251960"/>
            <a:ext cx="1600200" cy="265176"/>
          </a:xfrm>
          <a:prstGeom prst="roundRect">
            <a:avLst>
              <a:gd name="adj" fmla="val 51724"/>
            </a:avLst>
          </a:prstGeom>
          <a:solidFill>
            <a:srgbClr val="202E25"/>
          </a:solidFill>
          <a:ln w="12700">
            <a:solidFill>
              <a:srgbClr val="202E2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68880" y="4251960"/>
            <a:ext cx="1600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FC7A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150 pooled connections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87952" y="4251960"/>
            <a:ext cx="1371600" cy="265176"/>
          </a:xfrm>
          <a:prstGeom prst="roundRect">
            <a:avLst>
              <a:gd name="adj" fmla="val 51724"/>
            </a:avLst>
          </a:prstGeom>
          <a:solidFill>
            <a:srgbClr val="202E25"/>
          </a:solidFill>
          <a:ln w="12700">
            <a:solidFill>
              <a:srgbClr val="202E2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87952" y="4251960"/>
            <a:ext cx="1371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FC7A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box, your data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36208" y="1353312"/>
            <a:ext cx="5193792" cy="4572000"/>
          </a:xfrm>
          <a:prstGeom prst="roundRect">
            <a:avLst>
              <a:gd name="adj" fmla="val 1600"/>
            </a:avLst>
          </a:prstGeom>
          <a:solidFill>
            <a:srgbClr val="191E1B"/>
          </a:solidFill>
          <a:ln w="12700">
            <a:solidFill>
              <a:srgbClr val="2A2F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73952" y="1517904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CE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Grows with you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419088" y="1883664"/>
            <a:ext cx="4828032" cy="402336"/>
          </a:xfrm>
          <a:prstGeom prst="roundRect">
            <a:avLst>
              <a:gd name="adj" fmla="val 18182"/>
            </a:avLst>
          </a:prstGeom>
          <a:solidFill>
            <a:srgbClr val="202622"/>
          </a:solidFill>
          <a:ln w="12700">
            <a:solidFill>
              <a:srgbClr val="2A2F2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10528" y="1965960"/>
            <a:ext cx="237744" cy="237744"/>
          </a:xfrm>
          <a:prstGeom prst="ellipse">
            <a:avLst/>
          </a:prstGeom>
          <a:solidFill>
            <a:srgbClr val="202E25"/>
          </a:solidFill>
          <a:ln w="12700">
            <a:solidFill>
              <a:srgbClr val="202E2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10528" y="19659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FC7A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821424" y="19019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ECE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Many small apps on one Pgfy box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9921240" y="1901952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8FC7A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$12 · 2 GB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6419088" y="2340864"/>
            <a:ext cx="4828032" cy="402336"/>
          </a:xfrm>
          <a:prstGeom prst="roundRect">
            <a:avLst>
              <a:gd name="adj" fmla="val 18182"/>
            </a:avLst>
          </a:prstGeom>
          <a:solidFill>
            <a:srgbClr val="202622"/>
          </a:solidFill>
          <a:ln w="12700">
            <a:solidFill>
              <a:srgbClr val="2A2F2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10528" y="2423160"/>
            <a:ext cx="237744" cy="237744"/>
          </a:xfrm>
          <a:prstGeom prst="ellipse">
            <a:avLst/>
          </a:prstGeom>
          <a:solidFill>
            <a:srgbClr val="202E25"/>
          </a:solidFill>
          <a:ln w="12700">
            <a:solidFill>
              <a:srgbClr val="202E2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10528" y="24231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FC7A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821424" y="23591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ECE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app takes off: its own Pgfy box, restored in under 5 min</a:t>
            </a:r>
            <a:endParaRPr lang="en-US" sz="1020" dirty="0"/>
          </a:p>
        </p:txBody>
      </p:sp>
      <p:sp>
        <p:nvSpPr>
          <p:cNvPr id="32" name="Text 30"/>
          <p:cNvSpPr/>
          <p:nvPr/>
        </p:nvSpPr>
        <p:spPr>
          <a:xfrm>
            <a:off x="9921240" y="2359152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8FC7A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$24 · 4 GB</a:t>
            </a:r>
            <a:endParaRPr lang="en-US" sz="880" dirty="0"/>
          </a:p>
          <a:p>
            <a:pPr algn="r" indent="0" marL="0">
              <a:buNone/>
            </a:pPr>
            <a:r>
              <a:rPr lang="en-US" sz="880" b="1" dirty="0">
                <a:solidFill>
                  <a:srgbClr val="8FC7A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$44 · 8 GB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6419088" y="2798064"/>
            <a:ext cx="4828032" cy="402336"/>
          </a:xfrm>
          <a:prstGeom prst="roundRect">
            <a:avLst>
              <a:gd name="adj" fmla="val 18182"/>
            </a:avLst>
          </a:prstGeom>
          <a:solidFill>
            <a:srgbClr val="202622"/>
          </a:solidFill>
          <a:ln w="12700">
            <a:solidFill>
              <a:srgbClr val="2A2F2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10528" y="2880360"/>
            <a:ext cx="237744" cy="237744"/>
          </a:xfrm>
          <a:prstGeom prst="ellipse">
            <a:avLst/>
          </a:prstGeom>
          <a:solidFill>
            <a:srgbClr val="202E25"/>
          </a:solidFill>
          <a:ln w="12700">
            <a:solidFill>
              <a:srgbClr val="202E2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10528" y="28803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FC7A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821424" y="28163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ECE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Want managed HA and PITR? pg_restore the archive into RDS</a:t>
            </a:r>
            <a:endParaRPr lang="en-US" sz="1020" dirty="0"/>
          </a:p>
        </p:txBody>
      </p:sp>
      <p:sp>
        <p:nvSpPr>
          <p:cNvPr id="37" name="Text 35"/>
          <p:cNvSpPr/>
          <p:nvPr/>
        </p:nvSpPr>
        <p:spPr>
          <a:xfrm>
            <a:off x="9921240" y="2816352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8FC7A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$116 · 8 GB</a:t>
            </a:r>
            <a:endParaRPr lang="en-US" sz="880" dirty="0"/>
          </a:p>
          <a:p>
            <a:pPr algn="r" indent="0" marL="0">
              <a:buNone/>
            </a:pPr>
            <a:r>
              <a:rPr lang="en-US" sz="880" b="1" dirty="0">
                <a:solidFill>
                  <a:srgbClr val="8FC7A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db.m6g.large</a:t>
            </a:r>
            <a:endParaRPr lang="en-US" sz="880" dirty="0"/>
          </a:p>
        </p:txBody>
      </p:sp>
      <p:sp>
        <p:nvSpPr>
          <p:cNvPr id="38" name="Text 36"/>
          <p:cNvSpPr/>
          <p:nvPr/>
        </p:nvSpPr>
        <p:spPr>
          <a:xfrm>
            <a:off x="6473952" y="331012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A2AA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 LOW-TRAFFIC DATABASES / MONTH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473952" y="3557016"/>
            <a:ext cx="4636008" cy="0"/>
          </a:xfrm>
          <a:prstGeom prst="line">
            <a:avLst/>
          </a:prstGeom>
          <a:noFill/>
          <a:ln w="12700">
            <a:solidFill>
              <a:srgbClr val="2A2F2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37960" y="358444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CE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RDS, one instance per project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10058400" y="358444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CEFE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$699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473952" y="4059936"/>
            <a:ext cx="4636008" cy="0"/>
          </a:xfrm>
          <a:prstGeom prst="line">
            <a:avLst/>
          </a:prstGeom>
          <a:noFill/>
          <a:ln w="12700">
            <a:solidFill>
              <a:srgbClr val="2A2F2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408736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CE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RDS, one shared db.t4g.small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10058400" y="408736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CEFE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$25.66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473952" y="4562856"/>
            <a:ext cx="4636008" cy="0"/>
          </a:xfrm>
          <a:prstGeom prst="line">
            <a:avLst/>
          </a:prstGeom>
          <a:noFill/>
          <a:ln w="12700">
            <a:solidFill>
              <a:srgbClr val="2A2F2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37960" y="459028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CE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Lightsail managed PostgreSQL 2 GB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10058400" y="459028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CEFE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$30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419088" y="5074920"/>
            <a:ext cx="4800600" cy="457200"/>
          </a:xfrm>
          <a:prstGeom prst="roundRect">
            <a:avLst>
              <a:gd name="adj" fmla="val 16000"/>
            </a:avLst>
          </a:prstGeom>
          <a:solidFill>
            <a:srgbClr val="202E25"/>
          </a:solidFill>
          <a:ln w="12700">
            <a:solidFill>
              <a:srgbClr val="202E2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37960" y="509320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8FC7A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Pgfy on Lightsail + S3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10058400" y="509320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FC7A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$12.23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473952" y="5614416"/>
            <a:ext cx="4599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737C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Single-AZ · on-demand · us-east-1 · Sep 2026 · 90 GB of backups in S3 ≈ $2</a:t>
            </a:r>
            <a:endParaRPr lang="en-US" sz="8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92256" y="6547104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37C74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658368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CE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 learned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749808" y="1600200"/>
            <a:ext cx="10698480" cy="2240280"/>
          </a:xfrm>
          <a:prstGeom prst="roundRect">
            <a:avLst>
              <a:gd name="adj" fmla="val 3265"/>
            </a:avLst>
          </a:prstGeom>
          <a:solidFill>
            <a:srgbClr val="0F1210"/>
          </a:solidFill>
          <a:ln w="12700">
            <a:solidFill>
              <a:srgbClr val="2A2F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" y="1874520"/>
            <a:ext cx="10058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EE807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✗ backup to S3 failed — app image had no CA bundle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078992" y="2404872"/>
            <a:ext cx="10058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A2AA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minimal images hide what’s missing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78992" y="2935224"/>
            <a:ext cx="10058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8FC7A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 release pipeline now runs a real S3 check before publishing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49808" y="43159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dirty="0">
                <a:solidFill>
                  <a:srgbClr val="ECE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“Works on my machine” is a statement about the machine.</a:t>
            </a:r>
            <a:endParaRPr lang="en-US" sz="2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92256" y="6547104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37C74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658368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CE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What’s next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749808" y="1325880"/>
            <a:ext cx="5230368" cy="841248"/>
          </a:xfrm>
          <a:prstGeom prst="roundRect">
            <a:avLst>
              <a:gd name="adj" fmla="val 8696"/>
            </a:avLst>
          </a:prstGeom>
          <a:solidFill>
            <a:srgbClr val="191E1B"/>
          </a:solidFill>
          <a:ln w="12700">
            <a:solidFill>
              <a:srgbClr val="2A2F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613916"/>
            <a:ext cx="749808" cy="265176"/>
          </a:xfrm>
          <a:prstGeom prst="roundRect">
            <a:avLst>
              <a:gd name="adj" fmla="val 51724"/>
            </a:avLst>
          </a:prstGeom>
          <a:solidFill>
            <a:srgbClr val="202E25"/>
          </a:solidFill>
          <a:ln w="12700">
            <a:solidFill>
              <a:srgbClr val="202E2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13916"/>
            <a:ext cx="7498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FC7A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gate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01368" y="1435608"/>
            <a:ext cx="395020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ECE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hardening gate before real workloads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6254496" y="1325880"/>
            <a:ext cx="5230368" cy="841248"/>
          </a:xfrm>
          <a:prstGeom prst="roundRect">
            <a:avLst>
              <a:gd name="adj" fmla="val 8696"/>
            </a:avLst>
          </a:prstGeom>
          <a:solidFill>
            <a:srgbClr val="191E1B"/>
          </a:solidFill>
          <a:ln w="12700">
            <a:solidFill>
              <a:srgbClr val="2A2F2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19088" y="1613916"/>
            <a:ext cx="749808" cy="265176"/>
          </a:xfrm>
          <a:prstGeom prst="roundRect">
            <a:avLst>
              <a:gd name="adj" fmla="val 51724"/>
            </a:avLst>
          </a:prstGeom>
          <a:solidFill>
            <a:srgbClr val="30291D"/>
          </a:solidFill>
          <a:ln w="12700">
            <a:solidFill>
              <a:srgbClr val="30291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19088" y="1613916"/>
            <a:ext cx="7498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B8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planned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06056" y="1435608"/>
            <a:ext cx="395020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ECE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Delete a project — final backup first, then role and database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749808" y="2350008"/>
            <a:ext cx="5230368" cy="841248"/>
          </a:xfrm>
          <a:prstGeom prst="roundRect">
            <a:avLst>
              <a:gd name="adj" fmla="val 8696"/>
            </a:avLst>
          </a:prstGeom>
          <a:solidFill>
            <a:srgbClr val="191E1B"/>
          </a:solidFill>
          <a:ln w="12700">
            <a:solidFill>
              <a:srgbClr val="2A2F2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2638044"/>
            <a:ext cx="749808" cy="265176"/>
          </a:xfrm>
          <a:prstGeom prst="roundRect">
            <a:avLst>
              <a:gd name="adj" fmla="val 51724"/>
            </a:avLst>
          </a:prstGeom>
          <a:solidFill>
            <a:srgbClr val="30291D"/>
          </a:solidFill>
          <a:ln w="12700">
            <a:solidFill>
              <a:srgbClr val="3029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638044"/>
            <a:ext cx="7498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B8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planned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801368" y="2459736"/>
            <a:ext cx="395020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ECE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Backup retention cleanup in the bucket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6254496" y="2350008"/>
            <a:ext cx="5230368" cy="841248"/>
          </a:xfrm>
          <a:prstGeom prst="roundRect">
            <a:avLst>
              <a:gd name="adj" fmla="val 8696"/>
            </a:avLst>
          </a:prstGeom>
          <a:solidFill>
            <a:srgbClr val="191E1B"/>
          </a:solidFill>
          <a:ln w="12700">
            <a:solidFill>
              <a:srgbClr val="2A2F2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19088" y="2638044"/>
            <a:ext cx="749808" cy="265176"/>
          </a:xfrm>
          <a:prstGeom prst="roundRect">
            <a:avLst>
              <a:gd name="adj" fmla="val 51724"/>
            </a:avLst>
          </a:prstGeom>
          <a:solidFill>
            <a:srgbClr val="30291D"/>
          </a:solidFill>
          <a:ln w="12700">
            <a:solidFill>
              <a:srgbClr val="30291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19088" y="2638044"/>
            <a:ext cx="7498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B8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planned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06056" y="2459736"/>
            <a:ext cx="395020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ECE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PgBouncer — hundreds of app connections on one box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749808" y="3374136"/>
            <a:ext cx="5230368" cy="841248"/>
          </a:xfrm>
          <a:prstGeom prst="roundRect">
            <a:avLst>
              <a:gd name="adj" fmla="val 8696"/>
            </a:avLst>
          </a:prstGeom>
          <a:solidFill>
            <a:srgbClr val="191E1B"/>
          </a:solidFill>
          <a:ln w="12700">
            <a:solidFill>
              <a:srgbClr val="2A2F2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3662172"/>
            <a:ext cx="749808" cy="265176"/>
          </a:xfrm>
          <a:prstGeom prst="roundRect">
            <a:avLst>
              <a:gd name="adj" fmla="val 51724"/>
            </a:avLst>
          </a:prstGeom>
          <a:solidFill>
            <a:srgbClr val="30291D"/>
          </a:solidFill>
          <a:ln w="12700">
            <a:solidFill>
              <a:srgbClr val="30291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662172"/>
            <a:ext cx="7498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B8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planned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801368" y="3483864"/>
            <a:ext cx="395020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ECE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Alerts when a backup or certificate renewal fails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6254496" y="3374136"/>
            <a:ext cx="5230368" cy="841248"/>
          </a:xfrm>
          <a:prstGeom prst="roundRect">
            <a:avLst>
              <a:gd name="adj" fmla="val 8696"/>
            </a:avLst>
          </a:prstGeom>
          <a:solidFill>
            <a:srgbClr val="191E1B"/>
          </a:solidFill>
          <a:ln w="12700">
            <a:solidFill>
              <a:srgbClr val="2A2F2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19088" y="3662172"/>
            <a:ext cx="749808" cy="265176"/>
          </a:xfrm>
          <a:prstGeom prst="roundRect">
            <a:avLst>
              <a:gd name="adj" fmla="val 51724"/>
            </a:avLst>
          </a:prstGeom>
          <a:solidFill>
            <a:srgbClr val="30291D"/>
          </a:solidFill>
          <a:ln w="12700">
            <a:solidFill>
              <a:srgbClr val="30291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19088" y="3662172"/>
            <a:ext cx="7498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B8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planned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06056" y="3483864"/>
            <a:ext cx="395020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ECE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One-click updates</a:t>
            </a:r>
            <a:endParaRPr lang="en-US" sz="1220" dirty="0"/>
          </a:p>
        </p:txBody>
      </p:sp>
      <p:sp>
        <p:nvSpPr>
          <p:cNvPr id="27" name="Shape 25"/>
          <p:cNvSpPr/>
          <p:nvPr/>
        </p:nvSpPr>
        <p:spPr>
          <a:xfrm>
            <a:off x="749808" y="4398264"/>
            <a:ext cx="5230368" cy="841248"/>
          </a:xfrm>
          <a:prstGeom prst="roundRect">
            <a:avLst>
              <a:gd name="adj" fmla="val 8696"/>
            </a:avLst>
          </a:prstGeom>
          <a:solidFill>
            <a:srgbClr val="191E1B"/>
          </a:solidFill>
          <a:ln w="12700">
            <a:solidFill>
              <a:srgbClr val="2A2F2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4400" y="4686300"/>
            <a:ext cx="749808" cy="265176"/>
          </a:xfrm>
          <a:prstGeom prst="roundRect">
            <a:avLst>
              <a:gd name="adj" fmla="val 51724"/>
            </a:avLst>
          </a:prstGeom>
          <a:solidFill>
            <a:srgbClr val="30291D"/>
          </a:solidFill>
          <a:ln w="12700">
            <a:solidFill>
              <a:srgbClr val="30291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4686300"/>
            <a:ext cx="7498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B8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planned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801368" y="4507992"/>
            <a:ext cx="395020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ECE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permissions and a SQL editor</a:t>
            </a:r>
            <a:endParaRPr lang="en-US" sz="1220" dirty="0"/>
          </a:p>
        </p:txBody>
      </p:sp>
      <p:sp>
        <p:nvSpPr>
          <p:cNvPr id="31" name="Shape 29"/>
          <p:cNvSpPr/>
          <p:nvPr/>
        </p:nvSpPr>
        <p:spPr>
          <a:xfrm>
            <a:off x="6254496" y="4398264"/>
            <a:ext cx="5230368" cy="841248"/>
          </a:xfrm>
          <a:prstGeom prst="roundRect">
            <a:avLst>
              <a:gd name="adj" fmla="val 8696"/>
            </a:avLst>
          </a:prstGeom>
          <a:solidFill>
            <a:srgbClr val="191E1B"/>
          </a:solidFill>
          <a:ln w="12700">
            <a:solidFill>
              <a:srgbClr val="2A2F2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19088" y="4686300"/>
            <a:ext cx="749808" cy="265176"/>
          </a:xfrm>
          <a:prstGeom prst="roundRect">
            <a:avLst>
              <a:gd name="adj" fmla="val 51724"/>
            </a:avLst>
          </a:prstGeom>
          <a:solidFill>
            <a:srgbClr val="30291D"/>
          </a:solidFill>
          <a:ln w="12700">
            <a:solidFill>
              <a:srgbClr val="30291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19088" y="4686300"/>
            <a:ext cx="7498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B8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planned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306056" y="4507992"/>
            <a:ext cx="395020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ECE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IPv6 and DNS-01 certificate issuance</a:t>
            </a:r>
            <a:endParaRPr lang="en-US" sz="1220" dirty="0"/>
          </a:p>
        </p:txBody>
      </p:sp>
      <p:sp>
        <p:nvSpPr>
          <p:cNvPr id="35" name="Text 33"/>
          <p:cNvSpPr/>
          <p:nvPr/>
        </p:nvSpPr>
        <p:spPr>
          <a:xfrm>
            <a:off x="749808" y="6254496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2AA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Roadmap, straight from the README’s planned list.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92256" y="6547104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37C74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1298448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0" b="1" dirty="0">
                <a:solidFill>
                  <a:srgbClr val="ECE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pgfy</a:t>
            </a:r>
            <a:pPr algn="l" indent="0" marL="0">
              <a:buNone/>
            </a:pPr>
            <a:r>
              <a:rPr lang="en-US" sz="6500" b="1" dirty="0">
                <a:solidFill>
                  <a:srgbClr val="8FC7A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6500" dirty="0"/>
          </a:p>
        </p:txBody>
      </p:sp>
      <p:sp>
        <p:nvSpPr>
          <p:cNvPr id="3" name="Text 1"/>
          <p:cNvSpPr/>
          <p:nvPr/>
        </p:nvSpPr>
        <p:spPr>
          <a:xfrm>
            <a:off x="749808" y="228600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ECE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project’s database on one server you own.</a:t>
            </a: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ECE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Backups that prove they restore.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749808" y="35844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2AA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source · Go + React · PostgreSQL 18 · one-command install on Lightsail · backups to S3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49808" y="425196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2AA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github.com/c-varun14/Pgfy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A2AA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firstcommit.webbywasp.com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49808" y="5230368"/>
            <a:ext cx="960120" cy="265176"/>
          </a:xfrm>
          <a:prstGeom prst="roundRect">
            <a:avLst>
              <a:gd name="adj" fmla="val 51724"/>
            </a:avLst>
          </a:prstGeom>
          <a:solidFill>
            <a:srgbClr val="191E1B"/>
          </a:solidFill>
          <a:ln w="12700">
            <a:solidFill>
              <a:srgbClr val="191E1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5230368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CE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Lightsail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47088" y="5230368"/>
            <a:ext cx="621792" cy="265176"/>
          </a:xfrm>
          <a:prstGeom prst="roundRect">
            <a:avLst>
              <a:gd name="adj" fmla="val 51724"/>
            </a:avLst>
          </a:prstGeom>
          <a:solidFill>
            <a:srgbClr val="191E1B"/>
          </a:solidFill>
          <a:ln w="12700">
            <a:solidFill>
              <a:srgbClr val="191E1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47088" y="5230368"/>
            <a:ext cx="6217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CE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96896" y="5230368"/>
            <a:ext cx="685800" cy="265176"/>
          </a:xfrm>
          <a:prstGeom prst="roundRect">
            <a:avLst>
              <a:gd name="adj" fmla="val 51724"/>
            </a:avLst>
          </a:prstGeom>
          <a:solidFill>
            <a:srgbClr val="191E1B"/>
          </a:solidFill>
          <a:ln w="12700">
            <a:solidFill>
              <a:srgbClr val="191E1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96896" y="5230368"/>
            <a:ext cx="685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CE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IAM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92256" y="6547104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37C74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Pgfy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Pgfy — every project’s database on one server you own</dc:title>
  <dc:subject>Pgfy pitch deck</dc:subject>
  <dc:creator>Pgfy</dc:creator>
  <cp:lastModifiedBy>Pgfy</cp:lastModifiedBy>
  <cp:revision>1</cp:revision>
  <dcterms:created xsi:type="dcterms:W3CDTF">2026-09-20T10:53:49Z</dcterms:created>
  <dcterms:modified xsi:type="dcterms:W3CDTF">2026-09-20T10:53:49Z</dcterms:modified>
</cp:coreProperties>
</file>