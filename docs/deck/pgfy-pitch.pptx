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sv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GFY">
    <p:bg>
      <p:bgPr>
        <a:solidFill>
          <a:srgbClr val="11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1792" y="26517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9260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[object Object],[object Object]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1600200"/>
            <a:ext cx="10515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databases</a:t>
            </a:r>
            <a:endParaRPr lang="en-US" sz="5600" dirty="0"/>
          </a:p>
          <a:p>
            <a:pPr algn="l" indent="0" marL="0">
              <a:buNone/>
            </a:pPr>
            <a:r>
              <a:rPr lang="en-US" sz="56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 / month</a:t>
            </a:r>
            <a:endParaRPr lang="en-US" sz="5600" dirty="0"/>
          </a:p>
          <a:p>
            <a:pPr algn="l" indent="0" marL="0">
              <a:buNone/>
            </a:pPr>
            <a:r>
              <a:rPr lang="en-US" sz="56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restores you can verify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749808" y="43159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AWS · Lightsail + S3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 built it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353312"/>
            <a:ext cx="3493008" cy="3520440"/>
          </a:xfrm>
          <a:prstGeom prst="roundRect">
            <a:avLst>
              <a:gd name="adj" fmla="val 2094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8408" y="15727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 / month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78408" y="205740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$240 a year for one Postgres — on top of AI and VPS bills, for an app with a tiny audience. “Hosting is on you.”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80560" y="1353312"/>
            <a:ext cx="3493008" cy="3520440"/>
          </a:xfrm>
          <a:prstGeom prst="roundRect">
            <a:avLst>
              <a:gd name="adj" fmla="val 2094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09160" y="15727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Dokploy · RDS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709160" y="205740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self-hosting spoiled me, but its databases weren’t managed the way I needed.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709160" y="3767328"/>
            <a:ext cx="3017520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3858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RDS documents many databases per instance — then leaves every role, password and backup to you.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11312" y="1353312"/>
            <a:ext cx="3493008" cy="3520440"/>
          </a:xfrm>
          <a:prstGeom prst="roundRect">
            <a:avLst>
              <a:gd name="adj" fmla="val 2094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39912" y="15727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Neon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8439912" y="205740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 apps run workers every 10 s — the database never sleeps.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439912" y="3767328"/>
            <a:ext cx="3017520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9912" y="3858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D9E6D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0.25 CU × 730 h × $0.106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D9E6D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$19.34 / project / month</a:t>
            </a:r>
            <a:endParaRPr lang="en-US" sz="1120" dirty="0"/>
          </a:p>
        </p:txBody>
      </p:sp>
      <p:sp>
        <p:nvSpPr>
          <p:cNvPr id="16" name="Text 14"/>
          <p:cNvSpPr/>
          <p:nvPr/>
        </p:nvSpPr>
        <p:spPr>
          <a:xfrm>
            <a:off x="749808" y="6254496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the AI era we all ship niche apps for small audiences: many small databases, none of them big.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on AWS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325880"/>
            <a:ext cx="4663440" cy="3429000"/>
          </a:xfrm>
          <a:prstGeom prst="roundRect">
            <a:avLst>
              <a:gd name="adj" fmla="val 2133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" y="14813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Lightsail · Ubuntu 24.04 · $12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0120" y="1901952"/>
            <a:ext cx="4251960" cy="502920"/>
          </a:xfrm>
          <a:prstGeom prst="roundRect">
            <a:avLst>
              <a:gd name="adj" fmla="val 14545"/>
            </a:avLst>
          </a:prstGeom>
          <a:solidFill>
            <a:srgbClr val="202622"/>
          </a:solidFill>
          <a:ln w="12700">
            <a:solidFill>
              <a:srgbClr val="3A40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" y="1975104"/>
            <a:ext cx="394106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Caddy (HTTPS, Let’s Encrypt)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2907792" y="24048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737C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60120" y="2606040"/>
            <a:ext cx="4251960" cy="658368"/>
          </a:xfrm>
          <a:prstGeom prst="roundRect">
            <a:avLst>
              <a:gd name="adj" fmla="val 11111"/>
            </a:avLst>
          </a:prstGeom>
          <a:solidFill>
            <a:srgbClr val="202622"/>
          </a:solidFill>
          <a:ln w="12700">
            <a:solidFill>
              <a:srgbClr val="3A40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2679192"/>
            <a:ext cx="3941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pgfy — Go binary + embedded React dashboard · SQLite state</a:t>
            </a:r>
            <a:endParaRPr lang="en-US" sz="1230" dirty="0"/>
          </a:p>
        </p:txBody>
      </p:sp>
      <p:sp>
        <p:nvSpPr>
          <p:cNvPr id="10" name="Text 8"/>
          <p:cNvSpPr/>
          <p:nvPr/>
        </p:nvSpPr>
        <p:spPr>
          <a:xfrm>
            <a:off x="2907792" y="326440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737C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0120" y="3465576"/>
            <a:ext cx="4251960" cy="841248"/>
          </a:xfrm>
          <a:prstGeom prst="roundRect">
            <a:avLst>
              <a:gd name="adj" fmla="val 8696"/>
            </a:avLst>
          </a:prstGeom>
          <a:solidFill>
            <a:srgbClr val="202622"/>
          </a:solidFill>
          <a:ln w="12700">
            <a:solidFill>
              <a:srgbClr val="3A40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3538728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18 · one role + database per project · TLS-only · pg_hba allowlists</a:t>
            </a:r>
            <a:endParaRPr lang="en-US" sz="1230" dirty="0"/>
          </a:p>
        </p:txBody>
      </p:sp>
      <p:sp>
        <p:nvSpPr>
          <p:cNvPr id="13" name="Text 11"/>
          <p:cNvSpPr/>
          <p:nvPr/>
        </p:nvSpPr>
        <p:spPr>
          <a:xfrm>
            <a:off x="5577840" y="214884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daily pg_dump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--format=custom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897880" y="26060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7086600" y="1901952"/>
            <a:ext cx="2971800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0" y="212140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S3 bucket · SSE-S3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315200" y="24780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archive + manifest + SHA-256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23560" y="374904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06440" y="387705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IAM user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806440" y="415137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bucket-only policy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80960" y="3922776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900" dirty="0"/>
          </a:p>
        </p:txBody>
      </p:sp>
      <p:sp>
        <p:nvSpPr>
          <p:cNvPr id="22" name="Shape 20"/>
          <p:cNvSpPr/>
          <p:nvPr/>
        </p:nvSpPr>
        <p:spPr>
          <a:xfrm>
            <a:off x="8549640" y="3986784"/>
            <a:ext cx="2103120" cy="758952"/>
          </a:xfrm>
          <a:prstGeom prst="roundRect">
            <a:avLst>
              <a:gd name="adj" fmla="val 9639"/>
            </a:avLst>
          </a:prstGeom>
          <a:solidFill>
            <a:srgbClr val="151916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50808" y="409651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RDS (exit path)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750808" y="434340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737C7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pg_restore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646920" y="3090672"/>
            <a:ext cx="27432" cy="859536"/>
          </a:xfrm>
          <a:prstGeom prst="line">
            <a:avLst/>
          </a:prstGeom>
          <a:noFill/>
          <a:ln w="19050">
            <a:solidFill>
              <a:srgbClr val="737C74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749808" y="6254496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· pinned image digests · installs with one command in about a minute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far $12 goes — and where it stops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353312"/>
            <a:ext cx="2450592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23544" y="14904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DATABASES ON ONE 2 GB BOX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923544" y="18470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401568" y="1353312"/>
            <a:ext cx="2450592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75304" y="14904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IDLE APP CONNECTIONS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575304" y="18470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 · 490 MiB in use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49808" y="2724912"/>
            <a:ext cx="2450592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544" y="28620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DATABASES LOADED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23544" y="32186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943 tx/s · 8,866 reads/s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401568" y="2724912"/>
            <a:ext cx="2450592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75304" y="28620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50 WRITING AT ONCE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575304" y="32186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962 tx/s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49808" y="4251960"/>
            <a:ext cx="960120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251960"/>
            <a:ext cx="960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node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4251960"/>
            <a:ext cx="960120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28800" y="4251960"/>
            <a:ext cx="960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h RPO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07792" y="4251960"/>
            <a:ext cx="1600200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07792" y="4251960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pooled connections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36208" y="1353312"/>
            <a:ext cx="5193792" cy="4187952"/>
          </a:xfrm>
          <a:prstGeom prst="roundRect">
            <a:avLst>
              <a:gd name="adj" fmla="val 1747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3952" y="157276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RDS is the industry-grade answer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73952" y="1929384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PITR · Multi-AZ failover · patching · monitoring · compliance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6473952" y="235000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LOW-TRAFFIC DATABASES / MONTH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73952" y="2633472"/>
            <a:ext cx="4636008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266090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RDS, one instance per project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058400" y="266090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CEFE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$699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73952" y="3163824"/>
            <a:ext cx="4636008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37960" y="319125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RDS, one shared db.t4g.small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058400" y="3191256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CEFE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$25.66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73952" y="3694176"/>
            <a:ext cx="4636008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37960" y="372160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Lightsail managed PostgreSQL 2 GB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058400" y="37216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CEFE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$30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19088" y="4233672"/>
            <a:ext cx="4800600" cy="475488"/>
          </a:xfrm>
          <a:prstGeom prst="roundRect">
            <a:avLst>
              <a:gd name="adj" fmla="val 15385"/>
            </a:avLst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425196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Pgfy on Lightsail + S3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058400" y="425196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$12.23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73952" y="4983480"/>
            <a:ext cx="4599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737C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Single-AZ · on-demand · us-east-1 · Sep 2026 · 90 GB of backups in S3 ≈ $2</a:t>
            </a:r>
            <a:endParaRPr lang="en-US" sz="8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learned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600200"/>
            <a:ext cx="10698480" cy="2240280"/>
          </a:xfrm>
          <a:prstGeom prst="roundRect">
            <a:avLst>
              <a:gd name="adj" fmla="val 3265"/>
            </a:avLst>
          </a:prstGeom>
          <a:solidFill>
            <a:srgbClr val="0F1210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8992" y="1874520"/>
            <a:ext cx="10058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EE807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✗ backup to S3 failed — app image had no CA bundle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78992" y="2404872"/>
            <a:ext cx="10058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minimal images hide what’s missing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78992" y="2935224"/>
            <a:ext cx="10058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release pipeline now runs a real S3 check before publishing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49808" y="43159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“Works on my machine” is a statement about the machine.</a:t>
            </a:r>
            <a:endParaRPr lang="en-US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What’s next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325880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13916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3916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801368" y="1435608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hardening gate before real workloads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6254496" y="1325880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19088" y="1613916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613916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06056" y="1435608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project — final backup first, then role and database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749808" y="2350008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638044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638044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01368" y="2459736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 retention cleanup in the bucket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6254496" y="2350008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19088" y="2638044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2638044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06056" y="2459736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PgBouncer — hundreds of app connections on one box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749808" y="3374136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3662172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662172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801368" y="3483864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Alerts when a backup or certificate renewal fails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6254496" y="3374136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19088" y="3662172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19088" y="3662172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06056" y="3483864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updates</a:t>
            </a:r>
            <a:endParaRPr lang="en-US" sz="1220" dirty="0"/>
          </a:p>
        </p:txBody>
      </p:sp>
      <p:sp>
        <p:nvSpPr>
          <p:cNvPr id="27" name="Shape 25"/>
          <p:cNvSpPr/>
          <p:nvPr/>
        </p:nvSpPr>
        <p:spPr>
          <a:xfrm>
            <a:off x="749808" y="4398264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14400" y="4686300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4686300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01368" y="4507992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permissions and a SQL editor</a:t>
            </a:r>
            <a:endParaRPr lang="en-US" sz="1220" dirty="0"/>
          </a:p>
        </p:txBody>
      </p:sp>
      <p:sp>
        <p:nvSpPr>
          <p:cNvPr id="31" name="Shape 29"/>
          <p:cNvSpPr/>
          <p:nvPr/>
        </p:nvSpPr>
        <p:spPr>
          <a:xfrm>
            <a:off x="6254496" y="4398264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9088" y="4686300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19088" y="4686300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06056" y="4507992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 host + S3-compatible storage validation (AlphaVPS + Backblaze B2)</a:t>
            </a:r>
            <a:endParaRPr lang="en-US" sz="1220" dirty="0"/>
          </a:p>
        </p:txBody>
      </p:sp>
      <p:sp>
        <p:nvSpPr>
          <p:cNvPr id="35" name="Text 33"/>
          <p:cNvSpPr/>
          <p:nvPr/>
        </p:nvSpPr>
        <p:spPr>
          <a:xfrm>
            <a:off x="749808" y="6254496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here is listed as planned in the README — nothing on this slide is claimed as implemented.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129844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pgfy</a:t>
            </a:r>
            <a:pPr algn="l" indent="0" marL="0">
              <a:buNone/>
            </a:pPr>
            <a:r>
              <a:rPr lang="en-US" sz="65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6500" dirty="0"/>
          </a:p>
        </p:txBody>
      </p:sp>
      <p:sp>
        <p:nvSpPr>
          <p:cNvPr id="3" name="Text 1"/>
          <p:cNvSpPr/>
          <p:nvPr/>
        </p:nvSpPr>
        <p:spPr>
          <a:xfrm>
            <a:off x="749808" y="2331720"/>
            <a:ext cx="8961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Cheap enough to experiment.</a:t>
            </a:r>
            <a:endParaRPr lang="en-US" sz="3300" dirty="0"/>
          </a:p>
          <a:p>
            <a:pPr algn="l" indent="0" marL="0">
              <a:buNone/>
            </a:pPr>
            <a:r>
              <a:rPr lang="en-US" sz="33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about its limits.</a:t>
            </a:r>
            <a:endParaRPr lang="en-US" sz="3300" dirty="0"/>
          </a:p>
          <a:p>
            <a:pPr algn="l" indent="0" marL="0">
              <a:buNone/>
            </a:pPr>
            <a:r>
              <a:rPr lang="en-US" sz="33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way out when you win.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49808" y="425196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github.com/c-varun14/Pgfy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firstcommit.webbywasp.com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9808" y="5230368"/>
            <a:ext cx="960120" cy="265176"/>
          </a:xfrm>
          <a:prstGeom prst="roundRect">
            <a:avLst>
              <a:gd name="adj" fmla="val 51724"/>
            </a:avLst>
          </a:prstGeom>
          <a:solidFill>
            <a:srgbClr val="191E1B"/>
          </a:solidFill>
          <a:ln w="12700">
            <a:solidFill>
              <a:srgbClr val="191E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30368"/>
            <a:ext cx="960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Lightsail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47088" y="5230368"/>
            <a:ext cx="621792" cy="265176"/>
          </a:xfrm>
          <a:prstGeom prst="roundRect">
            <a:avLst>
              <a:gd name="adj" fmla="val 51724"/>
            </a:avLst>
          </a:prstGeom>
          <a:solidFill>
            <a:srgbClr val="191E1B"/>
          </a:solidFill>
          <a:ln w="12700">
            <a:solidFill>
              <a:srgbClr val="191E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47088" y="5230368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5230368"/>
            <a:ext cx="685800" cy="265176"/>
          </a:xfrm>
          <a:prstGeom prst="roundRect">
            <a:avLst>
              <a:gd name="adj" fmla="val 51724"/>
            </a:avLst>
          </a:prstGeom>
          <a:solidFill>
            <a:srgbClr val="191E1B"/>
          </a:solidFill>
          <a:ln w="12700">
            <a:solidFill>
              <a:srgbClr val="191E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96896" y="5230368"/>
            <a:ext cx="6858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IAM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Pgfy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Pgfy — Cheap enough to experiment</dc:title>
  <dc:subject>Pgfy pitch deck</dc:subject>
  <dc:creator>Pgfy</dc:creator>
  <cp:lastModifiedBy>Pgfy</cp:lastModifiedBy>
  <cp:revision>1</cp:revision>
  <dcterms:created xsi:type="dcterms:W3CDTF">2026-09-20T10:33:31Z</dcterms:created>
  <dcterms:modified xsi:type="dcterms:W3CDTF">2026-09-20T10:33:31Z</dcterms:modified>
</cp:coreProperties>
</file>